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1d5333431d488e" /><Relationship Type="http://schemas.openxmlformats.org/officeDocument/2006/relationships/extended-properties" Target="/docProps/app.xml" Id="Rc972cca41b224902" /><Relationship Type="http://schemas.openxmlformats.org/officeDocument/2006/relationships/officeDocument" Target="/ppt/presentation.xml" Id="R73858759dc8e43a6" /></Relationships>
</file>

<file path=ppt/presentation.xml><?xml version="1.0" encoding="utf-8"?>
<p:presentation xmlns:p="http://schemas.openxmlformats.org/presentationml/2006/main">
  <p:sldMasterIdLst>
    <p:sldMasterId xmlns:r="http://schemas.openxmlformats.org/officeDocument/2006/relationships" id="2147483648" r:id="R3d26cafa76304deb"/>
  </p:sldMasterIdLst>
  <p:notesMasterIdLst>
    <p:notesMasterId xmlns:r="http://schemas.openxmlformats.org/officeDocument/2006/relationships" r:id="R792e21bb296c4598"/>
  </p:notesMasterIdLst>
  <p:sldIdLst>
    <p:sldId xmlns:r="http://schemas.openxmlformats.org/officeDocument/2006/relationships" id="256" r:id="Ra861d2cfbef84fca"/>
    <p:sldId xmlns:r="http://schemas.openxmlformats.org/officeDocument/2006/relationships" id="257" r:id="R3e43f930fbc4496a"/>
    <p:sldId xmlns:r="http://schemas.openxmlformats.org/officeDocument/2006/relationships" id="258" r:id="R816488e83a5f4418"/>
    <p:sldId xmlns:r="http://schemas.openxmlformats.org/officeDocument/2006/relationships" id="259" r:id="Rc1e242e3829e4149"/>
    <p:sldId xmlns:r="http://schemas.openxmlformats.org/officeDocument/2006/relationships" id="260" r:id="Rce516aefb5914a8c"/>
    <p:sldId xmlns:r="http://schemas.openxmlformats.org/officeDocument/2006/relationships" id="261" r:id="Ref500586f1414c18"/>
    <p:sldId xmlns:r="http://schemas.openxmlformats.org/officeDocument/2006/relationships" id="262" r:id="R5520b3e097d14998"/>
    <p:sldId xmlns:r="http://schemas.openxmlformats.org/officeDocument/2006/relationships" id="263" r:id="R4fb4312cecfa4df2"/>
    <p:sldId xmlns:r="http://schemas.openxmlformats.org/officeDocument/2006/relationships" id="264" r:id="Ra756c92b94d24dbd"/>
    <p:sldId xmlns:r="http://schemas.openxmlformats.org/officeDocument/2006/relationships" id="265" r:id="R3f0f2f65dbbd4f41"/>
    <p:sldId xmlns:r="http://schemas.openxmlformats.org/officeDocument/2006/relationships" id="266" r:id="Rbc6cdb2075ef4664"/>
    <p:sldId xmlns:r="http://schemas.openxmlformats.org/officeDocument/2006/relationships" id="267" r:id="Rb649273b19ae418e"/>
    <p:sldId xmlns:r="http://schemas.openxmlformats.org/officeDocument/2006/relationships" id="268" r:id="R33e98a2a344d406b"/>
    <p:sldId xmlns:r="http://schemas.openxmlformats.org/officeDocument/2006/relationships" id="269" r:id="R67abb9e239e346a4"/>
    <p:sldId xmlns:r="http://schemas.openxmlformats.org/officeDocument/2006/relationships" id="270" r:id="R4ed87f7670844945"/>
    <p:sldId xmlns:r="http://schemas.openxmlformats.org/officeDocument/2006/relationships" id="271" r:id="R9d7f134a0baf4ce8"/>
    <p:sldId xmlns:r="http://schemas.openxmlformats.org/officeDocument/2006/relationships" id="272" r:id="R5992cee582f045f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9c260515f34d26" /><Relationship Type="http://schemas.openxmlformats.org/officeDocument/2006/relationships/slideMaster" Target="/ppt/slideMasters/slideMaster1.xml" Id="R3d26cafa76304deb" /><Relationship Type="http://schemas.openxmlformats.org/officeDocument/2006/relationships/notesMaster" Target="/ppt/notesMasters/notesMaster1.xml" Id="R792e21bb296c4598" /><Relationship Type="http://schemas.openxmlformats.org/officeDocument/2006/relationships/presProps" Target="/ppt/presProps.xml" Id="Re25c2605d67e4c01" /><Relationship Type="http://schemas.openxmlformats.org/officeDocument/2006/relationships/tableStyles" Target="/ppt/tableStyles.xml" Id="R5a436c65a1624bf3" /><Relationship Type="http://schemas.openxmlformats.org/officeDocument/2006/relationships/slide" Target="/ppt/slides/slide1.xml" Id="Ra861d2cfbef84fca" /><Relationship Type="http://schemas.openxmlformats.org/officeDocument/2006/relationships/slide" Target="/ppt/slides/slide2.xml" Id="R3e43f930fbc4496a" /><Relationship Type="http://schemas.openxmlformats.org/officeDocument/2006/relationships/slide" Target="/ppt/slides/slide3.xml" Id="R816488e83a5f4418" /><Relationship Type="http://schemas.openxmlformats.org/officeDocument/2006/relationships/slide" Target="/ppt/slides/slide4.xml" Id="Rc1e242e3829e4149" /><Relationship Type="http://schemas.openxmlformats.org/officeDocument/2006/relationships/slide" Target="/ppt/slides/slide5.xml" Id="Rce516aefb5914a8c" /><Relationship Type="http://schemas.openxmlformats.org/officeDocument/2006/relationships/slide" Target="/ppt/slides/slide6.xml" Id="Ref500586f1414c18" /><Relationship Type="http://schemas.openxmlformats.org/officeDocument/2006/relationships/slide" Target="/ppt/slides/slide7.xml" Id="R5520b3e097d14998" /><Relationship Type="http://schemas.openxmlformats.org/officeDocument/2006/relationships/slide" Target="/ppt/slides/slide8.xml" Id="R4fb4312cecfa4df2" /><Relationship Type="http://schemas.openxmlformats.org/officeDocument/2006/relationships/slide" Target="/ppt/slides/slide9.xml" Id="Ra756c92b94d24dbd" /><Relationship Type="http://schemas.openxmlformats.org/officeDocument/2006/relationships/slide" Target="/ppt/slides/slide10.xml" Id="R3f0f2f65dbbd4f41" /><Relationship Type="http://schemas.openxmlformats.org/officeDocument/2006/relationships/slide" Target="/ppt/slides/slide11.xml" Id="Rbc6cdb2075ef4664" /><Relationship Type="http://schemas.openxmlformats.org/officeDocument/2006/relationships/slide" Target="/ppt/slides/slide12.xml" Id="Rb649273b19ae418e" /><Relationship Type="http://schemas.openxmlformats.org/officeDocument/2006/relationships/slide" Target="/ppt/slides/slide13.xml" Id="R33e98a2a344d406b" /><Relationship Type="http://schemas.openxmlformats.org/officeDocument/2006/relationships/slide" Target="/ppt/slides/slide14.xml" Id="R67abb9e239e346a4" /><Relationship Type="http://schemas.openxmlformats.org/officeDocument/2006/relationships/slide" Target="/ppt/slides/slide15.xml" Id="R4ed87f7670844945" /><Relationship Type="http://schemas.openxmlformats.org/officeDocument/2006/relationships/slide" Target="/ppt/slides/slide16.xml" Id="R9d7f134a0baf4ce8" /><Relationship Type="http://schemas.openxmlformats.org/officeDocument/2006/relationships/slide" Target="/ppt/slides/slide17.xml" Id="R5992cee582f045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10382754534a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69f9858a2842f7" /><Relationship Type="http://schemas.openxmlformats.org/officeDocument/2006/relationships/notesMaster" Target="/ppt/notesMasters/notesMaster1.xml" Id="R2f2f04c49bf84f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449d6b22b14139" /><Relationship Type="http://schemas.openxmlformats.org/officeDocument/2006/relationships/notesMaster" Target="/ppt/notesMasters/notesMaster1.xml" Id="Ra26bfc527b9948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5d0b954d6e4f35" /><Relationship Type="http://schemas.openxmlformats.org/officeDocument/2006/relationships/notesMaster" Target="/ppt/notesMasters/notesMaster1.xml" Id="R2da1a7ab37f243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97a2aa5f424450" /><Relationship Type="http://schemas.openxmlformats.org/officeDocument/2006/relationships/notesMaster" Target="/ppt/notesMasters/notesMaster1.xml" Id="Ra12ee98aedc14e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f7887d94784e4c" /><Relationship Type="http://schemas.openxmlformats.org/officeDocument/2006/relationships/notesMaster" Target="/ppt/notesMasters/notesMaster1.xml" Id="R33ca66a93f354a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945b3d488b4e56" /><Relationship Type="http://schemas.openxmlformats.org/officeDocument/2006/relationships/notesMaster" Target="/ppt/notesMasters/notesMaster1.xml" Id="Ra1e92d3ba46844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3ff947b12e4b11" /><Relationship Type="http://schemas.openxmlformats.org/officeDocument/2006/relationships/notesMaster" Target="/ppt/notesMasters/notesMaster1.xml" Id="R92ea9519263549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bdb1338d604f38" /><Relationship Type="http://schemas.openxmlformats.org/officeDocument/2006/relationships/notesMaster" Target="/ppt/notesMasters/notesMaster1.xml" Id="R3d0dd7b9ca4042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1fc792d5444b15" /><Relationship Type="http://schemas.openxmlformats.org/officeDocument/2006/relationships/notesMaster" Target="/ppt/notesMasters/notesMaster1.xml" Id="Rc571ae6fa25c4c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370f5ac7ae4aac" /><Relationship Type="http://schemas.openxmlformats.org/officeDocument/2006/relationships/notesMaster" Target="/ppt/notesMasters/notesMaster1.xml" Id="Re36b7fce838746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25497f55544588" /><Relationship Type="http://schemas.openxmlformats.org/officeDocument/2006/relationships/notesMaster" Target="/ppt/notesMasters/notesMaster1.xml" Id="R3940999393a241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c37fd26ecd4d49" /><Relationship Type="http://schemas.openxmlformats.org/officeDocument/2006/relationships/notesMaster" Target="/ppt/notesMasters/notesMaster1.xml" Id="Rf207eb4c91ac49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d36dfb7d764c4f" /><Relationship Type="http://schemas.openxmlformats.org/officeDocument/2006/relationships/notesMaster" Target="/ppt/notesMasters/notesMaster1.xml" Id="Rc23a4673b5c647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219fd3d54234c24" /><Relationship Type="http://schemas.openxmlformats.org/officeDocument/2006/relationships/notesMaster" Target="/ppt/notesMasters/notesMaster1.xml" Id="Rdad6f59cf46f49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b94eec764d4305" /><Relationship Type="http://schemas.openxmlformats.org/officeDocument/2006/relationships/notesMaster" Target="/ppt/notesMasters/notesMaster1.xml" Id="Rda85365870a043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cd8f71f22f4d6e" /><Relationship Type="http://schemas.openxmlformats.org/officeDocument/2006/relationships/notesMaster" Target="/ppt/notesMasters/notesMaster1.xml" Id="R0ee6274378674d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256b93f75f4e5e" /><Relationship Type="http://schemas.openxmlformats.org/officeDocument/2006/relationships/notesMaster" Target="/ppt/notesMasters/notesMaster1.xml" Id="Redbeab58fe664e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started with two problems that pull in opposite directions. A normal QR ticket is convenient, but it can be shared or screenshotted. A central face-recognition system makes sharing harder, but it creates a permanent record that is much more difficult to replace if it leaks. My project began by asking whether I could keep the identity check without creating that second problem. This is the tension that led to Focaccia.</a:t>
            </a:r>
          </a:p>
          <a:p xmlns:a="http://schemas.openxmlformats.org/drawingml/2006/main">
            <a:r>
              <a:t/>
            </a:r>
          </a:p>
          <a:p xmlns:a="http://schemas.openxmlformats.org/drawingml/2006/main">
            <a:r>
              <a:t>[Transition]</a:t>
            </a:r>
          </a:p>
          <a:p xmlns:a="http://schemas.openxmlformats.org/drawingml/2006/main">
            <a:r>
              <a:t>That tension led to my project question.</a:t>
            </a:r>
          </a:p>
          <a:p xmlns:a="http://schemas.openxmlformats.org/drawingml/2006/main">
            <a:r>
              <a:t/>
            </a:r>
          </a:p>
          <a:p xmlns:a="http://schemas.openxmlformats.org/drawingml/2006/main">
            <a:r>
              <a:t>[Evidence]</a:t>
            </a:r>
          </a:p>
          <a:p xmlns:a="http://schemas.openxmlformats.org/drawingml/2006/main">
            <a:r>
              <a:t>Logbook — recorded problem and motivation</a:t>
            </a:r>
          </a:p>
          <a:p xmlns:a="http://schemas.openxmlformats.org/drawingml/2006/main">
            <a:r>
              <a:t/>
            </a:r>
          </a:p>
          <a:p xmlns:a="http://schemas.openxmlformats.org/drawingml/2006/main">
            <a:r>
              <a:t>[Sources]</a:t>
            </a:r>
          </a:p>
          <a:p xmlns:a="http://schemas.openxmlformats.org/drawingml/2006/main">
            <a:r>
              <a:t>- https://app.notion.com/p/34ad326c13fb80538192eafaa151ad93</a:t>
            </a:r>
          </a:p>
          <a:p xmlns:a="http://schemas.openxmlformats.org/drawingml/2006/main">
            <a:r>
              <a:t>- https://app.notion.com/p/289d326c13fb80c69689d1cedce8fc19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final question became: can events use face scans for entry without keeping a database of people’s faces? That wording matters. I am not asking whether face recognition exists or whether a phone can compare two faces. I am asking where the sensitive data has to go, how long it has to exist, and whether the gate can still make a useful decision. That moved the project from a feature demo into a privacy investigation.</a:t>
            </a:r>
          </a:p>
          <a:p xmlns:a="http://schemas.openxmlformats.org/drawingml/2006/main">
            <a:r>
              <a:t/>
            </a:r>
          </a:p>
          <a:p xmlns:a="http://schemas.openxmlformats.org/drawingml/2006/main">
            <a:r>
              <a:t>[Transition]</a:t>
            </a:r>
          </a:p>
          <a:p xmlns:a="http://schemas.openxmlformats.org/drawingml/2006/main">
            <a:r>
              <a:t>But the first plan was far too ambitious.</a:t>
            </a:r>
          </a:p>
          <a:p xmlns:a="http://schemas.openxmlformats.org/drawingml/2006/main">
            <a:r>
              <a:t/>
            </a:r>
          </a:p>
          <a:p xmlns:a="http://schemas.openxmlformats.org/drawingml/2006/main">
            <a:r>
              <a:t>[Evidence]</a:t>
            </a:r>
          </a:p>
          <a:p xmlns:a="http://schemas.openxmlformats.org/drawingml/2006/main">
            <a:r>
              <a:t>Logbook — final title and intended product</a:t>
            </a:r>
          </a:p>
          <a:p xmlns:a="http://schemas.openxmlformats.org/drawingml/2006/main">
            <a:r>
              <a:t/>
            </a:r>
          </a:p>
          <a:p xmlns:a="http://schemas.openxmlformats.org/drawingml/2006/main">
            <a:r>
              <a:t>[Sources]</a:t>
            </a:r>
          </a:p>
          <a:p xmlns:a="http://schemas.openxmlformats.org/drawingml/2006/main">
            <a:r>
              <a:t>- https://app.notion.com/p/34ad326c13fb80538192eafaa151ad93</a:t>
            </a:r>
          </a:p>
          <a:p xmlns:a="http://schemas.openxmlformats.org/drawingml/2006/main">
            <a:r>
              <a:t>- https://app.notion.com/p/2b0d326c13fb809fa29fed44ca56eff0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first plan was extremely ambitious. I wanted local processing, one-time templates, offline verification, liveness, a decision under three hundred milliseconds, false acceptance and rejection measurements, spoof trials and user testing. Those were reasonable things to investigate, but together they were too much to treat as one simple app. The important distinction is that these were targets in my logbook. They are not results, and I will come back to the missing evidence later.</a:t>
            </a:r>
          </a:p>
          <a:p xmlns:a="http://schemas.openxmlformats.org/drawingml/2006/main">
            <a:r>
              <a:t/>
            </a:r>
          </a:p>
          <a:p xmlns:a="http://schemas.openxmlformats.org/drawingml/2006/main">
            <a:r>
              <a:t>[Transition]</a:t>
            </a:r>
          </a:p>
          <a:p xmlns:a="http://schemas.openxmlformats.org/drawingml/2006/main">
            <a:r>
              <a:t>My supervisor forced me to test that ambition.</a:t>
            </a:r>
          </a:p>
          <a:p xmlns:a="http://schemas.openxmlformats.org/drawingml/2006/main">
            <a:r>
              <a:t/>
            </a:r>
          </a:p>
          <a:p xmlns:a="http://schemas.openxmlformats.org/drawingml/2006/main">
            <a:r>
              <a:t>[Evidence]</a:t>
            </a:r>
          </a:p>
          <a:p xmlns:a="http://schemas.openxmlformats.org/drawingml/2006/main">
            <a:r>
              <a:t>Planned — not completed evidence</a:t>
            </a:r>
          </a:p>
          <a:p xmlns:a="http://schemas.openxmlformats.org/drawingml/2006/main">
            <a:r>
              <a:t/>
            </a:r>
          </a:p>
          <a:p xmlns:a="http://schemas.openxmlformats.org/drawingml/2006/main">
            <a:r>
              <a:t>[Sources]</a:t>
            </a:r>
          </a:p>
          <a:p xmlns:a="http://schemas.openxmlformats.org/drawingml/2006/main">
            <a:r>
              <a:t>- https://app.notion.com/p/289d326c13fb80c69689d1cedce8fc19</a:t>
            </a:r>
          </a:p>
          <a:p xmlns:a="http://schemas.openxmlformats.org/drawingml/2006/main">
            <a:r>
              <a:t>- https://app.notion.com/p/335d326c13fb800ea6bfc9216ed9487f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supervisor challenged the part I had avoided: feasibility. Could I actually build this in the EPQ time? He also asked what made it original, because face ticketing already exists, and how I would prove the final claim. That feedback was useful because it forced me to stop relying on the novelty of facial recognition. The distinctive part had to become the privacy boundary, the one-event design and the ability to work offline. Next, research had to justify those choices.</a:t>
            </a:r>
          </a:p>
          <a:p xmlns:a="http://schemas.openxmlformats.org/drawingml/2006/main">
            <a:r>
              <a:t/>
            </a:r>
          </a:p>
          <a:p xmlns:a="http://schemas.openxmlformats.org/drawingml/2006/main">
            <a:r>
              <a:t>[Transition]</a:t>
            </a:r>
          </a:p>
          <a:p xmlns:a="http://schemas.openxmlformats.org/drawingml/2006/main">
            <a:r>
              <a:t>That made research the next turning point.</a:t>
            </a:r>
          </a:p>
          <a:p xmlns:a="http://schemas.openxmlformats.org/drawingml/2006/main">
            <a:r>
              <a:t/>
            </a:r>
          </a:p>
          <a:p xmlns:a="http://schemas.openxmlformats.org/drawingml/2006/main">
            <a:r>
              <a:t>[Evidence]</a:t>
            </a:r>
          </a:p>
          <a:p xmlns:a="http://schemas.openxmlformats.org/drawingml/2006/main">
            <a:r>
              <a:t>Logbook — supervisor feedback</a:t>
            </a:r>
          </a:p>
          <a:p xmlns:a="http://schemas.openxmlformats.org/drawingml/2006/main">
            <a:r>
              <a:t/>
            </a:r>
          </a:p>
          <a:p xmlns:a="http://schemas.openxmlformats.org/drawingml/2006/main">
            <a:r>
              <a:t>[Sources]</a:t>
            </a:r>
          </a:p>
          <a:p xmlns:a="http://schemas.openxmlformats.org/drawingml/2006/main">
            <a:r>
              <a:t>- https://app.notion.com/p/289d326c13fb80c69689d1cedce8fc19</a:t>
            </a:r>
          </a:p>
          <a:p xmlns:a="http://schemas.openxmlformats.org/drawingml/2006/main">
            <a:r>
              <a:t>- https://app.notion.com/p/335d326c13fb800ea6bfc9216ed9487f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changed the centre of the project. A simpler system would upload a reusable face pattern to a server. The literature on protected and cancellable biometrics suggested a better aim: process the face locally and create a different, replaceable pattern for each event. ICO guidance also made data minimisation and meaningful consent part of the design, not a note added afterwards. So research did not just explain the finished artefact. It changed what I was willing to build.</a:t>
            </a:r>
          </a:p>
          <a:p xmlns:a="http://schemas.openxmlformats.org/drawingml/2006/main">
            <a:r>
              <a:t/>
            </a:r>
          </a:p>
          <a:p xmlns:a="http://schemas.openxmlformats.org/drawingml/2006/main">
            <a:r>
              <a:t>[Transition]</a:t>
            </a:r>
          </a:p>
          <a:p xmlns:a="http://schemas.openxmlformats.org/drawingml/2006/main">
            <a:r>
              <a:t>Research changed the shape of the artefact.</a:t>
            </a:r>
          </a:p>
          <a:p xmlns:a="http://schemas.openxmlformats.org/drawingml/2006/main">
            <a:r>
              <a:t/>
            </a:r>
          </a:p>
          <a:p xmlns:a="http://schemas.openxmlformats.org/drawingml/2006/main">
            <a:r>
              <a:t>[Evidence]</a:t>
            </a:r>
          </a:p>
          <a:p xmlns:a="http://schemas.openxmlformats.org/drawingml/2006/main">
            <a:r>
              <a:t>Research-informed design decision</a:t>
            </a:r>
          </a:p>
          <a:p xmlns:a="http://schemas.openxmlformats.org/drawingml/2006/main">
            <a:r>
              <a:t/>
            </a:r>
          </a:p>
          <a:p xmlns:a="http://schemas.openxmlformats.org/drawingml/2006/main">
            <a:r>
              <a:t>[Sources]</a:t>
            </a:r>
          </a:p>
          <a:p xmlns:a="http://schemas.openxmlformats.org/drawingml/2006/main">
            <a:r>
              <a:t>- https://app.notion.com/p/2b0d326c13fb809fa29fed44ca56eff0</a:t>
            </a:r>
          </a:p>
          <a:p xmlns:a="http://schemas.openxmlformats.org/drawingml/2006/main">
            <a:r>
              <a:t>- https://app.notion.com/p/289d326c13fb80c69689d1cedce8fc19</a:t>
            </a:r>
          </a:p>
          <a:p xmlns:a="http://schemas.openxmlformats.org/drawingml/2006/main">
            <a:r>
              <a:t>- /Users/manavcodaty/repos/Focaccia/docs/PRIVACY_BY_DESIGN.md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first, the artefact was mainly an enrolment and gate demonstration. During the mid-project review, my supervisor pointed out that a real attendee has to get a ticket before they can enrol. I expanded the journey so an organiser creates an event, an attendee claims a real free ticket, then enrols and finally enters. This increased the scope, but it made the biometric part answer a real event problem instead of floating on its own.</a:t>
            </a:r>
          </a:p>
          <a:p xmlns:a="http://schemas.openxmlformats.org/drawingml/2006/main">
            <a:r>
              <a:t/>
            </a:r>
          </a:p>
          <a:p xmlns:a="http://schemas.openxmlformats.org/drawingml/2006/main">
            <a:r>
              <a:t>[Transition]</a:t>
            </a:r>
          </a:p>
          <a:p xmlns:a="http://schemas.openxmlformats.org/drawingml/2006/main">
            <a:r>
              <a:t>The new journey needed separate responsibilities.</a:t>
            </a:r>
          </a:p>
          <a:p xmlns:a="http://schemas.openxmlformats.org/drawingml/2006/main">
            <a:r>
              <a:t/>
            </a:r>
          </a:p>
          <a:p xmlns:a="http://schemas.openxmlformats.org/drawingml/2006/main">
            <a:r>
              <a:t>[Evidence]</a:t>
            </a:r>
          </a:p>
          <a:p xmlns:a="http://schemas.openxmlformats.org/drawingml/2006/main">
            <a:r>
              <a:t>Logbook change implemented in the repository</a:t>
            </a:r>
          </a:p>
          <a:p xmlns:a="http://schemas.openxmlformats.org/drawingml/2006/main">
            <a:r>
              <a:t/>
            </a:r>
          </a:p>
          <a:p xmlns:a="http://schemas.openxmlformats.org/drawingml/2006/main">
            <a:r>
              <a:t>[Sources]</a:t>
            </a:r>
          </a:p>
          <a:p xmlns:a="http://schemas.openxmlformats.org/drawingml/2006/main">
            <a:r>
              <a:t>- https://app.notion.com/p/34ad326c13fb80538192eafaa151ad93</a:t>
            </a:r>
          </a:p>
          <a:p xmlns:a="http://schemas.openxmlformats.org/drawingml/2006/main">
            <a:r>
              <a:t>- /Users/manavcodaty/repos/Focaccia/README.md</a:t>
            </a:r>
          </a:p>
          <a:p xmlns:a="http://schemas.openxmlformats.org/drawingml/2006/main">
            <a:r>
              <a:t>- /Users/manavcodaty/repos/Focaccia/docs/EPQ_ARTIFACT_REPORT.md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finished system gives four applications four different jobs. Tickets lets an attendee find an event and claim a ticket. Enrolment creates the protected pass. Gate checks it locally. Organiser runs the event and later receives the result. The graph keeps them at the same level because the main idea is responsibility: no single part needs to know everything. That separation is the foundation for the more detailed privacy architecture on the next slide.</a:t>
            </a:r>
          </a:p>
          <a:p xmlns:a="http://schemas.openxmlformats.org/drawingml/2006/main">
            <a:r>
              <a:t/>
            </a:r>
          </a:p>
          <a:p xmlns:a="http://schemas.openxmlformats.org/drawingml/2006/main">
            <a:r>
              <a:t>[Transition]</a:t>
            </a:r>
          </a:p>
          <a:p xmlns:a="http://schemas.openxmlformats.org/drawingml/2006/main">
            <a:r>
              <a:t>Those jobs create a deliberate trust boundary.</a:t>
            </a:r>
          </a:p>
          <a:p xmlns:a="http://schemas.openxmlformats.org/drawingml/2006/main">
            <a:r>
              <a:t/>
            </a:r>
          </a:p>
          <a:p xmlns:a="http://schemas.openxmlformats.org/drawingml/2006/main">
            <a:r>
              <a:t>[Evidence]</a:t>
            </a:r>
          </a:p>
          <a:p xmlns:a="http://schemas.openxmlformats.org/drawingml/2006/main">
            <a:r>
              <a:t>Implemented architecture</a:t>
            </a:r>
          </a:p>
          <a:p xmlns:a="http://schemas.openxmlformats.org/drawingml/2006/main">
            <a:r>
              <a:t/>
            </a:r>
          </a:p>
          <a:p xmlns:a="http://schemas.openxmlformats.org/drawingml/2006/main">
            <a:r>
              <a:t>[Sources]</a:t>
            </a:r>
          </a:p>
          <a:p xmlns:a="http://schemas.openxmlformats.org/drawingml/2006/main">
            <a:r>
              <a:t>- /Users/manavcodaty/repos/Focaccia/README.md</a:t>
            </a:r>
          </a:p>
          <a:p xmlns:a="http://schemas.openxmlformats.org/drawingml/2006/main">
            <a:r>
              <a:t>- /Users/manavcodaty/repos/Focaccia/docs/ARCHITECTURE.md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attendee phone handles the face. The server handles ordinary event authority, such as whether this account owns this ticket, and it signs the pass. The prepared gate receives the protected pass and compares locally. The server does not need the raw photo, the reusable face embedding or the decrypted event template. This does not mean the system has no sensitive data. It means the most reusable biometric material is kept away from the central service.</a:t>
            </a:r>
          </a:p>
          <a:p xmlns:a="http://schemas.openxmlformats.org/drawingml/2006/main">
            <a:r>
              <a:t/>
            </a:r>
          </a:p>
          <a:p xmlns:a="http://schemas.openxmlformats.org/drawingml/2006/main">
            <a:r>
              <a:t>[Transition]</a:t>
            </a:r>
          </a:p>
          <a:p xmlns:a="http://schemas.openxmlformats.org/drawingml/2006/main">
            <a:r>
              <a:t>The protected pass is how that boundary works.</a:t>
            </a:r>
          </a:p>
          <a:p xmlns:a="http://schemas.openxmlformats.org/drawingml/2006/main">
            <a:r>
              <a:t/>
            </a:r>
          </a:p>
          <a:p xmlns:a="http://schemas.openxmlformats.org/drawingml/2006/main">
            <a:r>
              <a:t>[Evidence]</a:t>
            </a:r>
          </a:p>
          <a:p xmlns:a="http://schemas.openxmlformats.org/drawingml/2006/main">
            <a:r>
              <a:t>Implemented and source-inspected privacy boundary</a:t>
            </a:r>
          </a:p>
          <a:p xmlns:a="http://schemas.openxmlformats.org/drawingml/2006/main">
            <a:r>
              <a:t/>
            </a:r>
          </a:p>
          <a:p xmlns:a="http://schemas.openxmlformats.org/drawingml/2006/main">
            <a:r>
              <a:t>[Sources]</a:t>
            </a:r>
          </a:p>
          <a:p xmlns:a="http://schemas.openxmlformats.org/drawingml/2006/main">
            <a:r>
              <a:t>- /Users/manavcodaty/repos/Focaccia/docs/ARCHITECTURE.md</a:t>
            </a:r>
          </a:p>
          <a:p xmlns:a="http://schemas.openxmlformats.org/drawingml/2006/main">
            <a:r>
              <a:t>- /Users/manavcodaty/repos/Focaccia/docs/PRIVACY_BY_DESIGN.md</a:t>
            </a:r>
          </a:p>
          <a:p xmlns:a="http://schemas.openxmlformats.org/drawingml/2006/main">
            <a:r>
              <a:t>- /Users/manavcodaty/repos/Focaccia/docs/THREAT_MODEL.md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 a sealed-envelope analogy here. The attendee phone turns the face into a protected event pattern and locks it for the prepared gate. The server can check ticket ownership and stamp the outside of the pass without opening that protected pattern. At entry, the gate opens it and compares locally. Technically, this uses encryption and a digital signature, but the important point for this audience is that hiding the contents and proving who issued the pass are separate jobs.</a:t>
            </a:r>
          </a:p>
          <a:p xmlns:a="http://schemas.openxmlformats.org/drawingml/2006/main">
            <a:r>
              <a:t/>
            </a:r>
          </a:p>
          <a:p xmlns:a="http://schemas.openxmlformats.org/drawingml/2006/main">
            <a:r>
              <a:t>[Transition]</a:t>
            </a:r>
          </a:p>
          <a:p xmlns:a="http://schemas.openxmlformats.org/drawingml/2006/main">
            <a:r>
              <a:t>Next: could that pattern be reused?</a:t>
            </a:r>
          </a:p>
          <a:p xmlns:a="http://schemas.openxmlformats.org/drawingml/2006/main">
            <a:r>
              <a:t/>
            </a:r>
          </a:p>
          <a:p xmlns:a="http://schemas.openxmlformats.org/drawingml/2006/main">
            <a:r>
              <a:t>[Evidence]</a:t>
            </a:r>
          </a:p>
          <a:p xmlns:a="http://schemas.openxmlformats.org/drawingml/2006/main">
            <a:r>
              <a:t>Implemented cryptographic data flow</a:t>
            </a:r>
          </a:p>
          <a:p xmlns:a="http://schemas.openxmlformats.org/drawingml/2006/main">
            <a:r>
              <a:t/>
            </a:r>
          </a:p>
          <a:p xmlns:a="http://schemas.openxmlformats.org/drawingml/2006/main">
            <a:r>
              <a:t>[Sources]</a:t>
            </a:r>
          </a:p>
          <a:p xmlns:a="http://schemas.openxmlformats.org/drawingml/2006/main">
            <a:r>
              <a:t>- /Users/manavcodaty/repos/Focaccia/docs/ARCHITECTURE.md</a:t>
            </a:r>
          </a:p>
          <a:p xmlns:a="http://schemas.openxmlformats.org/drawingml/2006/main">
            <a:r>
              <a:t>- /Users/manavcodaty/repos/Focaccia/docs/PHASE_2_ROLES_TICKETS_AND_GATE_SYNC.md</a:t>
            </a:r>
          </a:p>
          <a:p xmlns:a="http://schemas.openxmlformats.org/drawingml/2006/main">
            <a:r>
              <a:t>- /Users/manavcodaty/repos/Focaccia/docs/PRIVACY_BY_DESIGN.md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event key is a simplified way to explain a cancellable template. The same starting face is mixed with event-specific information, so Event A and Event B do not receive one reusable identity number. If a template is exposed, the system can issue a different one for another event. I am not claiming this makes reversal or linking mathematically impossible. It reduces reuse by design, which is a more honest and defensible claim.</a:t>
            </a:r>
          </a:p>
          <a:p xmlns:a="http://schemas.openxmlformats.org/drawingml/2006/main">
            <a:r>
              <a:t/>
            </a:r>
          </a:p>
          <a:p xmlns:a="http://schemas.openxmlformats.org/drawingml/2006/main">
            <a:r>
              <a:t>[Transition]</a:t>
            </a:r>
          </a:p>
          <a:p xmlns:a="http://schemas.openxmlformats.org/drawingml/2006/main">
            <a:r>
              <a:t>At the gate, privacy must still allow a decision.</a:t>
            </a:r>
          </a:p>
          <a:p xmlns:a="http://schemas.openxmlformats.org/drawingml/2006/main">
            <a:r>
              <a:t/>
            </a:r>
          </a:p>
          <a:p xmlns:a="http://schemas.openxmlformats.org/drawingml/2006/main">
            <a:r>
              <a:t>[Evidence]</a:t>
            </a:r>
          </a:p>
          <a:p xmlns:a="http://schemas.openxmlformats.org/drawingml/2006/main">
            <a:r>
              <a:t>Implemented design; security claim deliberately bounded</a:t>
            </a:r>
          </a:p>
          <a:p xmlns:a="http://schemas.openxmlformats.org/drawingml/2006/main">
            <a:r>
              <a:t/>
            </a:r>
          </a:p>
          <a:p xmlns:a="http://schemas.openxmlformats.org/drawingml/2006/main">
            <a:r>
              <a:t>[Sources]</a:t>
            </a:r>
          </a:p>
          <a:p xmlns:a="http://schemas.openxmlformats.org/drawingml/2006/main">
            <a:r>
              <a:t>- https://app.notion.com/p/289d326c13fb80c69689d1cedce8fc19</a:t>
            </a:r>
          </a:p>
          <a:p xmlns:a="http://schemas.openxmlformats.org/drawingml/2006/main">
            <a:r>
              <a:t>- /Users/manavcodaty/repos/Focaccia/docs/PRIVACY_BY_DESIGN.md</a:t>
            </a:r>
          </a:p>
          <a:p xmlns:a="http://schemas.openxmlformats.org/drawingml/2006/main">
            <a:r>
              <a:t>- /Users/manavcodaty/repos/Focaccia/docs/THREAT_MODEL.md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doors open, the gate refreshes its revocation information. It can then disconnect. For each pass it checks the event, time, the server’s stamp, the prepared revocation list and whether the pass was already used. It then performs liveness and the face comparison locally. The decision tree simplifies the checks, but the order matters: the gate has to establish authority and single use before showing an acceptance result.</a:t>
            </a:r>
          </a:p>
          <a:p xmlns:a="http://schemas.openxmlformats.org/drawingml/2006/main">
            <a:r>
              <a:t/>
            </a:r>
          </a:p>
          <a:p xmlns:a="http://schemas.openxmlformats.org/drawingml/2006/main">
            <a:r>
              <a:t>[Transition]</a:t>
            </a:r>
          </a:p>
          <a:p xmlns:a="http://schemas.openxmlformats.org/drawingml/2006/main">
            <a:r>
              <a:t>Offline decisions need somewhere safe to wait.</a:t>
            </a:r>
          </a:p>
          <a:p xmlns:a="http://schemas.openxmlformats.org/drawingml/2006/main">
            <a:r>
              <a:t/>
            </a:r>
          </a:p>
          <a:p xmlns:a="http://schemas.openxmlformats.org/drawingml/2006/main">
            <a:r>
              <a:t>[Evidence]</a:t>
            </a:r>
          </a:p>
          <a:p xmlns:a="http://schemas.openxmlformats.org/drawingml/2006/main">
            <a:r>
              <a:t>Implemented and deterministically tested offline flow</a:t>
            </a:r>
          </a:p>
          <a:p xmlns:a="http://schemas.openxmlformats.org/drawingml/2006/main">
            <a:r>
              <a:t/>
            </a:r>
          </a:p>
          <a:p xmlns:a="http://schemas.openxmlformats.org/drawingml/2006/main">
            <a:r>
              <a:t>[Sources]</a:t>
            </a:r>
          </a:p>
          <a:p xmlns:a="http://schemas.openxmlformats.org/drawingml/2006/main">
            <a:r>
              <a:t>- /Users/manavcodaty/repos/Focaccia/docs/PHASE_6_OFFLINE_GATE_AND_SIGNED_SYNC.md</a:t>
            </a:r>
          </a:p>
          <a:p xmlns:a="http://schemas.openxmlformats.org/drawingml/2006/main">
            <a:r>
              <a:t>- /Users/manavcodaty/repos/Focaccia/docs/EPQ_OPERATIONS_MANUAL.md</a:t>
            </a:r>
          </a:p>
          <a:p xmlns:a="http://schemas.openxmlformats.org/drawingml/2006/main">
            <a:r>
              <a:t>- /Users/manavcodaty/repos/Focaccia/docs/EVALUATION_PLAN.md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offline system has to be honest about delay. If the gate accepts someone while disconnected, it stores a signed result in a local outbox. When connectivity returns, that result reaches the organiser dashboard. The benefit is that a venue outage does not stop entry. The cost is that a new revocation made elsewhere cannot affect this gate until it refreshes. I treat that as an explicit trade-off rather than hiding it as a technical detail.</a:t>
            </a:r>
          </a:p>
          <a:p xmlns:a="http://schemas.openxmlformats.org/drawingml/2006/main">
            <a:r>
              <a:t/>
            </a:r>
          </a:p>
          <a:p xmlns:a="http://schemas.openxmlformats.org/drawingml/2006/main">
            <a:r>
              <a:t>[Transition]</a:t>
            </a:r>
          </a:p>
          <a:p xmlns:a="http://schemas.openxmlformats.org/drawingml/2006/main">
            <a:r>
              <a:t>That trade-off is what the demonstration tests.</a:t>
            </a:r>
          </a:p>
          <a:p xmlns:a="http://schemas.openxmlformats.org/drawingml/2006/main">
            <a:r>
              <a:t/>
            </a:r>
          </a:p>
          <a:p xmlns:a="http://schemas.openxmlformats.org/drawingml/2006/main">
            <a:r>
              <a:t>[Evidence]</a:t>
            </a:r>
          </a:p>
          <a:p xmlns:a="http://schemas.openxmlformats.org/drawingml/2006/main">
            <a:r>
              <a:t>Implemented trade-off</a:t>
            </a:r>
          </a:p>
          <a:p xmlns:a="http://schemas.openxmlformats.org/drawingml/2006/main">
            <a:r>
              <a:t/>
            </a:r>
          </a:p>
          <a:p xmlns:a="http://schemas.openxmlformats.org/drawingml/2006/main">
            <a:r>
              <a:t>[Sources]</a:t>
            </a:r>
          </a:p>
          <a:p xmlns:a="http://schemas.openxmlformats.org/drawingml/2006/main">
            <a:r>
              <a:t>- /Users/manavcodaty/repos/Focaccia/docs/EPQ_OPERATIONS_MANUAL.md</a:t>
            </a:r>
          </a:p>
          <a:p xmlns:a="http://schemas.openxmlformats.org/drawingml/2006/main">
            <a:r>
              <a:t>- /Users/manavcodaty/repos/Focaccia/docs/PHASE_6_OFFLINE_GATE_AND_SIGNED_SYNC.md</a:t>
            </a:r>
          </a:p>
          <a:p xmlns:a="http://schemas.openxmlformats.org/drawingml/2006/main">
            <a:r>
              <a:t>- /Users/manavcodaty/repos/Focaccia/docs/THREAT_MODEL.md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 watch three things. First, I will switch networking off on the gate. Second, the first valid scan should be accepted. Third, the same pass should be rejected when I try it again. If time allows, I will reconnect and show the queued result reaching the dashboard. The point is not that a camera can see a face. The point is that the gate can decide locally and remember single use.</a:t>
            </a:r>
          </a:p>
          <a:p xmlns:a="http://schemas.openxmlformats.org/drawingml/2006/main">
            <a:r>
              <a:t/>
            </a:r>
          </a:p>
          <a:p xmlns:a="http://schemas.openxmlformats.org/drawingml/2006/main">
            <a:r>
              <a:t>[Transition]</a:t>
            </a:r>
          </a:p>
          <a:p xmlns:a="http://schemas.openxmlformats.org/drawingml/2006/main">
            <a:r>
              <a:t>I’ll now show the first offline decision.</a:t>
            </a:r>
          </a:p>
          <a:p xmlns:a="http://schemas.openxmlformats.org/drawingml/2006/main">
            <a:r>
              <a:t/>
            </a:r>
          </a:p>
          <a:p xmlns:a="http://schemas.openxmlformats.org/drawingml/2006/main">
            <a:r>
              <a:t>[Stage direction]</a:t>
            </a:r>
          </a:p>
          <a:p xmlns:a="http://schemas.openxmlformats.org/drawingml/2006/main">
            <a:r>
              <a:t>Before presenting: provision the gate, refresh revocations, open the attendee QR, and confirm both prepared devices are charged.</a:t>
            </a:r>
          </a:p>
          <a:p xmlns:a="http://schemas.openxmlformats.org/drawingml/2006/main">
            <a:r>
              <a:t/>
            </a:r>
          </a:p>
          <a:p xmlns:a="http://schemas.openxmlformats.org/drawingml/2006/main">
            <a:r>
              <a:t>[Evidence]</a:t>
            </a:r>
          </a:p>
          <a:p xmlns:a="http://schemas.openxmlformats.org/drawingml/2006/main">
            <a:r>
              <a:t>Planned demonstration — not tested during this presentation polish</a:t>
            </a:r>
          </a:p>
          <a:p xmlns:a="http://schemas.openxmlformats.org/drawingml/2006/main">
            <a:r>
              <a:t/>
            </a:r>
          </a:p>
          <a:p xmlns:a="http://schemas.openxmlformats.org/drawingml/2006/main">
            <a:r>
              <a:t>[Sources]</a:t>
            </a:r>
          </a:p>
          <a:p xmlns:a="http://schemas.openxmlformats.org/drawingml/2006/main">
            <a:r>
              <a:t>- https://app.notion.com/p/34ad326c13fb80538192eafaa151ad93</a:t>
            </a:r>
          </a:p>
          <a:p xmlns:a="http://schemas.openxmlformats.org/drawingml/2006/main">
            <a:r>
              <a:t>- /Users/manavcodaty/repos/Focaccia/docs/EPQ_OPERATIONS_MANUAL.md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 is now offline. The pass already contains the signed event information and the protected event template, while the gate already has the prepared keys and revocation snapshot. It runs the checklist shown here and performs the live comparison on this phone. If it accepts, the used-pass record and queued result are saved before the screen displays success. That ordering matters because restarting the app should not make the same pass usable again.</a:t>
            </a:r>
          </a:p>
          <a:p xmlns:a="http://schemas.openxmlformats.org/drawingml/2006/main">
            <a:r>
              <a:t/>
            </a:r>
          </a:p>
          <a:p xmlns:a="http://schemas.openxmlformats.org/drawingml/2006/main">
            <a:r>
              <a:t>[Transition]</a:t>
            </a:r>
          </a:p>
          <a:p xmlns:a="http://schemas.openxmlformats.org/drawingml/2006/main">
            <a:r>
              <a:t>Next I will test whether the pass is truly single-use.</a:t>
            </a:r>
          </a:p>
          <a:p xmlns:a="http://schemas.openxmlformats.org/drawingml/2006/main">
            <a:r>
              <a:t/>
            </a:r>
          </a:p>
          <a:p xmlns:a="http://schemas.openxmlformats.org/drawingml/2006/main">
            <a:r>
              <a:t>[Stage direction]</a:t>
            </a:r>
          </a:p>
          <a:p xmlns:a="http://schemas.openxmlformats.org/drawingml/2006/main">
            <a:r>
              <a:t>Switch off Wi-Fi and mobile networking on the gate, scan the attendee QR, complete the liveness prompt, and pause on the result.</a:t>
            </a:r>
          </a:p>
          <a:p xmlns:a="http://schemas.openxmlformats.org/drawingml/2006/main">
            <a:r>
              <a:t/>
            </a:r>
          </a:p>
          <a:p xmlns:a="http://schemas.openxmlformats.org/drawingml/2006/main">
            <a:r>
              <a:t>[Evidence]</a:t>
            </a:r>
          </a:p>
          <a:p xmlns:a="http://schemas.openxmlformats.org/drawingml/2006/main">
            <a:r>
              <a:t>Implemented and deterministically tested flow; complete physical demonstration unverified here</a:t>
            </a:r>
          </a:p>
          <a:p xmlns:a="http://schemas.openxmlformats.org/drawingml/2006/main">
            <a:r>
              <a:t/>
            </a:r>
          </a:p>
          <a:p xmlns:a="http://schemas.openxmlformats.org/drawingml/2006/main">
            <a:r>
              <a:t>[Sources]</a:t>
            </a:r>
          </a:p>
          <a:p xmlns:a="http://schemas.openxmlformats.org/drawingml/2006/main">
            <a:r>
              <a:t>- /Users/manavcodaty/repos/Focaccia/docs/EPQ_OPERATIONS_MANUAL.md</a:t>
            </a:r>
          </a:p>
          <a:p xmlns:a="http://schemas.openxmlformats.org/drawingml/2006/main">
            <a:r>
              <a:t>- /Users/manavcodaty/repos/Focaccia/docs/PHASE_6_OFFLINE_GATE_AND_SIGNED_SYNC.md</a:t>
            </a:r>
          </a:p>
          <a:p xmlns:a="http://schemas.openxmlformats.org/drawingml/2006/main">
            <a:r>
              <a:t>- /Users/manavcodaty/repos/Focaccia/docs/EVALUATION_PLAN.md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I scan the same pass again. The face has not changed, but the pass has already been marked as used on this gate, so the correct result is rejection. This protects against somebody copying the QR after the first entry. When I reconnect, the original accepted result should synchronise to the dashboard. In a multi-gate venue, the gates would need shared used-pass state; this prototype deliberately limits each event to one prepared gate.</a:t>
            </a:r>
          </a:p>
          <a:p xmlns:a="http://schemas.openxmlformats.org/drawingml/2006/main">
            <a:r>
              <a:t/>
            </a:r>
          </a:p>
          <a:p xmlns:a="http://schemas.openxmlformats.org/drawingml/2006/main">
            <a:r>
              <a:t>[Transition]</a:t>
            </a:r>
          </a:p>
          <a:p xmlns:a="http://schemas.openxmlformats.org/drawingml/2006/main">
            <a:r>
              <a:t>The demo result matters, but so do the failures.</a:t>
            </a:r>
          </a:p>
          <a:p xmlns:a="http://schemas.openxmlformats.org/drawingml/2006/main">
            <a:r>
              <a:t/>
            </a:r>
          </a:p>
          <a:p xmlns:a="http://schemas.openxmlformats.org/drawingml/2006/main">
            <a:r>
              <a:t>[Stage direction]</a:t>
            </a:r>
          </a:p>
          <a:p xmlns:a="http://schemas.openxmlformats.org/drawingml/2006/main">
            <a:r>
              <a:t>Rescan the same pass, show replay rejection, restore networking, then show the pending item synchronising if the demo environment is healthy.</a:t>
            </a:r>
          </a:p>
          <a:p xmlns:a="http://schemas.openxmlformats.org/drawingml/2006/main">
            <a:r>
              <a:t/>
            </a:r>
          </a:p>
          <a:p xmlns:a="http://schemas.openxmlformats.org/drawingml/2006/main">
            <a:r>
              <a:t>[Evidence]</a:t>
            </a:r>
          </a:p>
          <a:p xmlns:a="http://schemas.openxmlformats.org/drawingml/2006/main">
            <a:r>
              <a:t>Replay is deterministically tested; the live replay-and-sync demonstration remains unverified here</a:t>
            </a:r>
          </a:p>
          <a:p xmlns:a="http://schemas.openxmlformats.org/drawingml/2006/main">
            <a:r>
              <a:t/>
            </a:r>
          </a:p>
          <a:p xmlns:a="http://schemas.openxmlformats.org/drawingml/2006/main">
            <a:r>
              <a:t>[Sources]</a:t>
            </a:r>
          </a:p>
          <a:p xmlns:a="http://schemas.openxmlformats.org/drawingml/2006/main">
            <a:r>
              <a:t>- /Users/manavcodaty/repos/Focaccia/docs/EPQ_OPERATIONS_MANUAL.md</a:t>
            </a:r>
          </a:p>
          <a:p xmlns:a="http://schemas.openxmlformats.org/drawingml/2006/main">
            <a:r>
              <a:t>- /Users/manavcodaty/repos/Focaccia/docs/EVALUATION_PLAN.md</a:t>
            </a:r>
          </a:p>
          <a:p xmlns:a="http://schemas.openxmlformats.org/drawingml/2006/main">
            <a:r>
              <a:t>- /Users/manavcodaty/repos/Focaccia/docs/THREAT_MODEL.md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improved through failures. Replay storage was strengthened so single use is event-scoped and definitive. Sensitive temporary data was moved into guaranteed cleanup paths. An over-strict clock comparison caused an integration failure and was narrowed without weakening the surrounding checks. These examples taught me to separate planned, implemented, tested, observed and unverified evidence. Because my Project Product Review is blank, I used current repository documents for the final stage rather than pretending the logbook was complete. Automated coverage cannot replace participant, biometric or physical-workflow evidence.</a:t>
            </a:r>
          </a:p>
          <a:p xmlns:a="http://schemas.openxmlformats.org/drawingml/2006/main">
            <a:r>
              <a:t/>
            </a:r>
          </a:p>
          <a:p xmlns:a="http://schemas.openxmlformats.org/drawingml/2006/main">
            <a:r>
              <a:t>[Transition]</a:t>
            </a:r>
          </a:p>
          <a:p xmlns:a="http://schemas.openxmlformats.org/drawingml/2006/main">
            <a:r>
              <a:t>Those evidence limits lead to my final conclusion.</a:t>
            </a:r>
          </a:p>
          <a:p xmlns:a="http://schemas.openxmlformats.org/drawingml/2006/main">
            <a:r>
              <a:t/>
            </a:r>
          </a:p>
          <a:p xmlns:a="http://schemas.openxmlformats.org/drawingml/2006/main">
            <a:r>
              <a:t>[Evidence]</a:t>
            </a:r>
          </a:p>
          <a:p xmlns:a="http://schemas.openxmlformats.org/drawingml/2006/main">
            <a:r>
              <a:t>Implemented fixes and bounded evidence</a:t>
            </a:r>
          </a:p>
          <a:p xmlns:a="http://schemas.openxmlformats.org/drawingml/2006/main">
            <a:r>
              <a:t/>
            </a:r>
          </a:p>
          <a:p xmlns:a="http://schemas.openxmlformats.org/drawingml/2006/main">
            <a:r>
              <a:t>[Sources]</a:t>
            </a:r>
          </a:p>
          <a:p xmlns:a="http://schemas.openxmlformats.org/drawingml/2006/main">
            <a:r>
              <a:t>- /Users/manavcodaty/repos/Focaccia/docs/SECURITY_AUDIT_REPORT.md</a:t>
            </a:r>
          </a:p>
          <a:p xmlns:a="http://schemas.openxmlformats.org/drawingml/2006/main">
            <a:r>
              <a:t>- /Users/manavcodaty/repos/Focaccia/docs/PHASE_9_FINAL_DUAL_MODE_ACCEPTANCE.md</a:t>
            </a:r>
          </a:p>
          <a:p xmlns:a="http://schemas.openxmlformats.org/drawingml/2006/main">
            <a:r>
              <a:t>- /Users/manavcodaty/repos/Focaccia/docs/EVALUATION_PLAN.md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conclusion is conditional. Focaccia demonstrates a credible way to reduce central biometric exposure while supporting signed, offline and single-use entry. It does not yet prove production-grade speed, accuracy, spoof resistance or usability, because those datasets were not completed. The biggest lesson was that privacy changes the architecture from the beginning. If I repeated the project, I would run physical trials earlier and reduce optional scope sooner.</a:t>
            </a:r>
          </a:p>
          <a:p xmlns:a="http://schemas.openxmlformats.org/drawingml/2006/main">
            <a:r>
              <a:t/>
            </a:r>
          </a:p>
          <a:p xmlns:a="http://schemas.openxmlformats.org/drawingml/2006/main">
            <a:r>
              <a:t>[Transition]</a:t>
            </a:r>
          </a:p>
          <a:p xmlns:a="http://schemas.openxmlformats.org/drawingml/2006/main">
            <a:r>
              <a:t>I’ll now take questions.</a:t>
            </a:r>
          </a:p>
          <a:p xmlns:a="http://schemas.openxmlformats.org/drawingml/2006/main">
            <a:r>
              <a:t/>
            </a:r>
          </a:p>
          <a:p xmlns:a="http://schemas.openxmlformats.org/drawingml/2006/main">
            <a:r>
              <a:t>[Evidence]</a:t>
            </a:r>
          </a:p>
          <a:p xmlns:a="http://schemas.openxmlformats.org/drawingml/2006/main">
            <a:r>
              <a:t>Evaluation and personal reflection</a:t>
            </a:r>
          </a:p>
          <a:p xmlns:a="http://schemas.openxmlformats.org/drawingml/2006/main">
            <a:r>
              <a:t/>
            </a:r>
          </a:p>
          <a:p xmlns:a="http://schemas.openxmlformats.org/drawingml/2006/main">
            <a:r>
              <a:t>[Q&amp;A preparation]</a:t>
            </a:r>
          </a:p>
          <a:p xmlns:a="http://schemas.openxmlformats.org/drawingml/2006/main">
            <a:r>
              <a:t>- Why use a face at all? — To bind a ticket to the person presenting it, while testing whether that can be done without a central face database.</a:t>
            </a:r>
          </a:p>
          <a:p xmlns:a="http://schemas.openxmlformats.org/drawingml/2006/main">
            <a:r>
              <a:t>- Could a photo fool it? — The prototype uses basic active liveness, but spoof resistance is not proven without controlled presentation-attack trials.</a:t>
            </a:r>
          </a:p>
          <a:p xmlns:a="http://schemas.openxmlformats.org/drawingml/2006/main">
            <a:r>
              <a:t>- What happens with multiple gates? — They would need a shared replay protocol; this artefact deliberately uses one prepared gate per event.</a:t>
            </a:r>
          </a:p>
          <a:p xmlns:a="http://schemas.openxmlformats.org/drawingml/2006/main">
            <a:r>
              <a:t>- What evidence is still missing? — Participant feedback, timing distributions, genuine/impostor counts, and controlled spoof trials.</a:t>
            </a:r>
          </a:p>
          <a:p xmlns:a="http://schemas.openxmlformats.org/drawingml/2006/main">
            <a:r>
              <a:t>- What would I change? — Test the smallest physical journey early, freeze scope sooner, and collect human evidence alongside software tests.</a:t>
            </a:r>
          </a:p>
          <a:p xmlns:a="http://schemas.openxmlformats.org/drawingml/2006/main">
            <a:r>
              <a:t/>
            </a:r>
          </a:p>
          <a:p xmlns:a="http://schemas.openxmlformats.org/drawingml/2006/main">
            <a:r>
              <a:t>[Sources]</a:t>
            </a:r>
          </a:p>
          <a:p xmlns:a="http://schemas.openxmlformats.org/drawingml/2006/main">
            <a:r>
              <a:t>- https://app.notion.com/p/34ad326c13fb80538192eafaa151ad93</a:t>
            </a:r>
          </a:p>
          <a:p xmlns:a="http://schemas.openxmlformats.org/drawingml/2006/main">
            <a:r>
              <a:t>- /Users/manavcodaty/repos/Focaccia/docs/EVALUATION_PLAN.md</a:t>
            </a:r>
          </a:p>
          <a:p xmlns:a="http://schemas.openxmlformats.org/drawingml/2006/main">
            <a:r>
              <a:t>- /Users/manavcodaty/repos/Focaccia/docs/PHASE_9_FINAL_DUAL_MODE_ACCEPTANCE.md</a:t>
            </a:r>
          </a:p>
          <a:p xmlns:a="http://schemas.openxmlformats.org/drawingml/2006/main">
            <a:r>
              <a:t>- /Users/manavcodaty/repos/Focaccia/docs/EPQ_ARTIFACT_REPORT.md</a:t>
            </a:r>
          </a:p>
          <a:p xmlns:a="http://schemas.openxmlformats.org/drawingml/2006/main">
            <a:r>
              <a:t>- https://filestore.aqa.org.uk/subjects/AQA-W-7993-SP-19.PDF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de0db113a548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a2ccf0fce04bf2" /><Relationship Type="http://schemas.openxmlformats.org/officeDocument/2006/relationships/slideLayout" Target="/ppt/slideLayouts/slideLayout1.xml" Id="Rb2e73176d00048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e73176d00048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779b658c404f2a" /><Relationship Type="http://schemas.openxmlformats.org/officeDocument/2006/relationships/image" Target="/ppt/media/image.png" Id="Rcf4405562b134c86" /><Relationship Type="http://schemas.openxmlformats.org/officeDocument/2006/relationships/image" Target="/ppt/media/image.svg" Id="R316a6fae329e4f28" /><Relationship Type="http://schemas.openxmlformats.org/officeDocument/2006/relationships/notesSlide" Target="/ppt/notesSlides/notesSlide1.xml" Id="R77cd5ac682854c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ec9d6d51d2480a" /><Relationship Type="http://schemas.openxmlformats.org/officeDocument/2006/relationships/image" Target="/ppt/media/image2.png" Id="R3e468280dbc94ecf" /><Relationship Type="http://schemas.openxmlformats.org/officeDocument/2006/relationships/image" Target="/ppt/media/image2.svg" Id="R071f01790cb442cc" /><Relationship Type="http://schemas.openxmlformats.org/officeDocument/2006/relationships/notesSlide" Target="/ppt/notesSlides/notesSlide2.xml" Id="R2ed1dc00258e49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df94d936f34719" /><Relationship Type="http://schemas.openxmlformats.org/officeDocument/2006/relationships/image" Target="/ppt/media/image3.png" Id="R6e85c62878544b80" /><Relationship Type="http://schemas.openxmlformats.org/officeDocument/2006/relationships/image" Target="/ppt/media/image3.svg" Id="Re51a29ea57824722" /><Relationship Type="http://schemas.openxmlformats.org/officeDocument/2006/relationships/notesSlide" Target="/ppt/notesSlides/notesSlide3.xml" Id="R72ac32483abf48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436573ca9f44c9" /><Relationship Type="http://schemas.openxmlformats.org/officeDocument/2006/relationships/image" Target="/ppt/media/image4.png" Id="Rd8c04754db1643f5" /><Relationship Type="http://schemas.openxmlformats.org/officeDocument/2006/relationships/image" Target="/ppt/media/image4.svg" Id="R19ee2ca91efc4dc8" /><Relationship Type="http://schemas.openxmlformats.org/officeDocument/2006/relationships/notesSlide" Target="/ppt/notesSlides/notesSlide4.xml" Id="Rda4bb96de6b24a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2242ed18e74b05" /><Relationship Type="http://schemas.openxmlformats.org/officeDocument/2006/relationships/image" Target="/ppt/media/image5.png" Id="R57693b51dc864101" /><Relationship Type="http://schemas.openxmlformats.org/officeDocument/2006/relationships/image" Target="/ppt/media/image5.svg" Id="R4d02999d6c294144" /><Relationship Type="http://schemas.openxmlformats.org/officeDocument/2006/relationships/notesSlide" Target="/ppt/notesSlides/notesSlide5.xml" Id="R1be94c79d2c64c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02a146f2be452e" /><Relationship Type="http://schemas.openxmlformats.org/officeDocument/2006/relationships/image" Target="/ppt/media/image6.png" Id="Ra07621fe1c224996" /><Relationship Type="http://schemas.openxmlformats.org/officeDocument/2006/relationships/image" Target="/ppt/media/image6.svg" Id="R900143acd1134885" /><Relationship Type="http://schemas.openxmlformats.org/officeDocument/2006/relationships/notesSlide" Target="/ppt/notesSlides/notesSlide6.xml" Id="R0b9938802e6544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e5896327404d18" /><Relationship Type="http://schemas.openxmlformats.org/officeDocument/2006/relationships/image" Target="/ppt/media/image7.png" Id="Rc71c8edd96e442a6" /><Relationship Type="http://schemas.openxmlformats.org/officeDocument/2006/relationships/image" Target="/ppt/media/image7.svg" Id="Rac01ffbac4ae48d2" /><Relationship Type="http://schemas.openxmlformats.org/officeDocument/2006/relationships/notesSlide" Target="/ppt/notesSlides/notesSlide7.xml" Id="Rd8531c5e582e49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d851a4c1b8491e" /><Relationship Type="http://schemas.openxmlformats.org/officeDocument/2006/relationships/image" Target="/ppt/media/image8.png" Id="R188c9f362abf45ad" /><Relationship Type="http://schemas.openxmlformats.org/officeDocument/2006/relationships/image" Target="/ppt/media/image8.svg" Id="R1e34d2e6c2884c87" /><Relationship Type="http://schemas.openxmlformats.org/officeDocument/2006/relationships/notesSlide" Target="/ppt/notesSlides/notesSlide8.xml" Id="Ref30f36c6ea14c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229bbbf45246c2" /><Relationship Type="http://schemas.openxmlformats.org/officeDocument/2006/relationships/image" Target="/ppt/media/image9.png" Id="R6c7a7b301f2541b1" /><Relationship Type="http://schemas.openxmlformats.org/officeDocument/2006/relationships/image" Target="/ppt/media/image9.svg" Id="R9cfb6800c4e74471" /><Relationship Type="http://schemas.openxmlformats.org/officeDocument/2006/relationships/notesSlide" Target="/ppt/notesSlides/notesSlide9.xml" Id="R5f55e9a8b90143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e91b7beeae74060" /><Relationship Type="http://schemas.openxmlformats.org/officeDocument/2006/relationships/image" Target="/ppt/media/image10.png" Id="R7c4949951d7a4389" /><Relationship Type="http://schemas.openxmlformats.org/officeDocument/2006/relationships/image" Target="/ppt/media/image10.svg" Id="Rc6835be99480423e" /><Relationship Type="http://schemas.openxmlformats.org/officeDocument/2006/relationships/notesSlide" Target="/ppt/notesSlides/notesSlide10.xml" Id="R9db9fabee16e47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9fbee3d90240f5" /><Relationship Type="http://schemas.openxmlformats.org/officeDocument/2006/relationships/image" Target="/ppt/media/image11.png" Id="R9dbf127e32284ccd" /><Relationship Type="http://schemas.openxmlformats.org/officeDocument/2006/relationships/image" Target="/ppt/media/image11.svg" Id="R29f48e680c584b09" /><Relationship Type="http://schemas.openxmlformats.org/officeDocument/2006/relationships/notesSlide" Target="/ppt/notesSlides/notesSlide11.xml" Id="R30ad7c47db1c4a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fa1dc288b40464e" /><Relationship Type="http://schemas.openxmlformats.org/officeDocument/2006/relationships/image" Target="/ppt/media/image12.png" Id="R7a98d68e93e54d82" /><Relationship Type="http://schemas.openxmlformats.org/officeDocument/2006/relationships/image" Target="/ppt/media/image12.svg" Id="R7e9234ec229f4f7e" /><Relationship Type="http://schemas.openxmlformats.org/officeDocument/2006/relationships/notesSlide" Target="/ppt/notesSlides/notesSlide12.xml" Id="Rfbb7de7af0d14c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e8f07692a324579" /><Relationship Type="http://schemas.openxmlformats.org/officeDocument/2006/relationships/image" Target="/ppt/media/image13.png" Id="Rb7319ed33ba9453d" /><Relationship Type="http://schemas.openxmlformats.org/officeDocument/2006/relationships/image" Target="/ppt/media/image13.svg" Id="Rdbcc6b36b4bd453d" /><Relationship Type="http://schemas.openxmlformats.org/officeDocument/2006/relationships/notesSlide" Target="/ppt/notesSlides/notesSlide13.xml" Id="R140c93e344c248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33eed117d6e42dd" /><Relationship Type="http://schemas.openxmlformats.org/officeDocument/2006/relationships/image" Target="/ppt/media/image14.png" Id="R1464083bfe2f485a" /><Relationship Type="http://schemas.openxmlformats.org/officeDocument/2006/relationships/image" Target="/ppt/media/image14.svg" Id="R607030cab7f04d19" /><Relationship Type="http://schemas.openxmlformats.org/officeDocument/2006/relationships/notesSlide" Target="/ppt/notesSlides/notesSlide14.xml" Id="R1e647ced04d14c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4cac1b329fb46da" /><Relationship Type="http://schemas.openxmlformats.org/officeDocument/2006/relationships/image" Target="/ppt/media/image15.png" Id="Rb40017a98b674885" /><Relationship Type="http://schemas.openxmlformats.org/officeDocument/2006/relationships/image" Target="/ppt/media/image15.svg" Id="R00a6a5f45b7c4271" /><Relationship Type="http://schemas.openxmlformats.org/officeDocument/2006/relationships/notesSlide" Target="/ppt/notesSlides/notesSlide15.xml" Id="Recf585ed7b46497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1e3ba7efafe46dd" /><Relationship Type="http://schemas.openxmlformats.org/officeDocument/2006/relationships/image" Target="/ppt/media/image16.png" Id="R2af5bc45da234469" /><Relationship Type="http://schemas.openxmlformats.org/officeDocument/2006/relationships/image" Target="/ppt/media/image16.svg" Id="R938665d66d1f4536" /><Relationship Type="http://schemas.openxmlformats.org/officeDocument/2006/relationships/notesSlide" Target="/ppt/notesSlides/notesSlide16.xml" Id="R81272d1311d14f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f28952a050e4018" /><Relationship Type="http://schemas.openxmlformats.org/officeDocument/2006/relationships/image" Target="/ppt/media/image17.png" Id="Rde27cfe499314557" /><Relationship Type="http://schemas.openxmlformats.org/officeDocument/2006/relationships/image" Target="/ppt/media/image17.svg" Id="R70df62d71ef4442a" /><Relationship Type="http://schemas.openxmlformats.org/officeDocument/2006/relationships/notesSlide" Target="/ppt/notesSlides/notesSlide17.xml" Id="R5efb337481854365" /></Relationships>
</file>

<file path=ppt/slides/slide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f4405562b134c86">
            <a:extLst>
              <a:ext uri="{96DAC541-7B7A-43D3-8B79-37D633B846F1}">
                <asvg:svgBlip xmlns:asvg="http://schemas.microsoft.com/office/drawing/2016/SVG/main" r:embed="R316a6fae329e4f28"/>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005248591"/>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e468280dbc94ecf">
            <a:extLst>
              <a:ext uri="{96DAC541-7B7A-43D3-8B79-37D633B846F1}">
                <asvg:svgBlip xmlns:asvg="http://schemas.microsoft.com/office/drawing/2016/SVG/main" r:embed="R071f01790cb442cc"/>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743930553"/>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e85c62878544b80">
            <a:extLst>
              <a:ext uri="{96DAC541-7B7A-43D3-8B79-37D633B846F1}">
                <asvg:svgBlip xmlns:asvg="http://schemas.microsoft.com/office/drawing/2016/SVG/main" r:embed="Re51a29ea57824722"/>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887070807"/>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8c04754db1643f5">
            <a:extLst>
              <a:ext uri="{96DAC541-7B7A-43D3-8B79-37D633B846F1}">
                <asvg:svgBlip xmlns:asvg="http://schemas.microsoft.com/office/drawing/2016/SVG/main" r:embed="R19ee2ca91efc4dc8"/>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556522901"/>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7693b51dc864101">
            <a:extLst>
              <a:ext uri="{96DAC541-7B7A-43D3-8B79-37D633B846F1}">
                <asvg:svgBlip xmlns:asvg="http://schemas.microsoft.com/office/drawing/2016/SVG/main" r:embed="R4d02999d6c294144"/>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933946047"/>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07621fe1c224996">
            <a:extLst>
              <a:ext uri="{96DAC541-7B7A-43D3-8B79-37D633B846F1}">
                <asvg:svgBlip xmlns:asvg="http://schemas.microsoft.com/office/drawing/2016/SVG/main" r:embed="R900143acd1134885"/>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380868602"/>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71c8edd96e442a6">
            <a:extLst>
              <a:ext uri="{96DAC541-7B7A-43D3-8B79-37D633B846F1}">
                <asvg:svgBlip xmlns:asvg="http://schemas.microsoft.com/office/drawing/2016/SVG/main" r:embed="Rac01ffbac4ae48d2"/>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832529559"/>
      </p:ext>
    </p:extLst>
  </p:cSld>
</p:sld>
</file>

<file path=ppt/slides/slide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88c9f362abf45ad">
            <a:extLst>
              <a:ext uri="{96DAC541-7B7A-43D3-8B79-37D633B846F1}">
                <asvg:svgBlip xmlns:asvg="http://schemas.microsoft.com/office/drawing/2016/SVG/main" r:embed="R1e34d2e6c2884c87"/>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160580084"/>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c7a7b301f2541b1">
            <a:extLst>
              <a:ext uri="{96DAC541-7B7A-43D3-8B79-37D633B846F1}">
                <asvg:svgBlip xmlns:asvg="http://schemas.microsoft.com/office/drawing/2016/SVG/main" r:embed="R9cfb6800c4e74471"/>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369802226"/>
      </p:ext>
    </p:extLst>
  </p:cSld>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c4949951d7a4389">
            <a:extLst>
              <a:ext uri="{96DAC541-7B7A-43D3-8B79-37D633B846F1}">
                <asvg:svgBlip xmlns:asvg="http://schemas.microsoft.com/office/drawing/2016/SVG/main" r:embed="Rc6835be99480423e"/>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182232229"/>
      </p:ext>
    </p:extLst>
  </p:cSld>
</p:sld>
</file>

<file path=ppt/slides/slide1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dbf127e32284ccd">
            <a:extLst>
              <a:ext uri="{96DAC541-7B7A-43D3-8B79-37D633B846F1}">
                <asvg:svgBlip xmlns:asvg="http://schemas.microsoft.com/office/drawing/2016/SVG/main" r:embed="R29f48e680c584b09"/>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608702095"/>
      </p:ext>
    </p:extLst>
  </p:cSld>
</p:sld>
</file>

<file path=ppt/slides/slide1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a98d68e93e54d82">
            <a:extLst>
              <a:ext uri="{96DAC541-7B7A-43D3-8B79-37D633B846F1}">
                <asvg:svgBlip xmlns:asvg="http://schemas.microsoft.com/office/drawing/2016/SVG/main" r:embed="R7e9234ec229f4f7e"/>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361261336"/>
      </p:ext>
    </p:extLst>
  </p:cSld>
</p:sld>
</file>

<file path=ppt/slides/slide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7319ed33ba9453d">
            <a:extLst>
              <a:ext uri="{96DAC541-7B7A-43D3-8B79-37D633B846F1}">
                <asvg:svgBlip xmlns:asvg="http://schemas.microsoft.com/office/drawing/2016/SVG/main" r:embed="Rdbcc6b36b4bd453d"/>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1860803656"/>
      </p:ext>
    </p:extLst>
  </p:cSld>
</p:sld>
</file>

<file path=ppt/slides/slide1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464083bfe2f485a">
            <a:extLst>
              <a:ext uri="{96DAC541-7B7A-43D3-8B79-37D633B846F1}">
                <asvg:svgBlip xmlns:asvg="http://schemas.microsoft.com/office/drawing/2016/SVG/main" r:embed="R607030cab7f04d19"/>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240115434"/>
      </p:ext>
    </p:extLst>
  </p:cSld>
</p:sld>
</file>

<file path=ppt/slides/slide1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40017a98b674885">
            <a:extLst>
              <a:ext uri="{96DAC541-7B7A-43D3-8B79-37D633B846F1}">
                <asvg:svgBlip xmlns:asvg="http://schemas.microsoft.com/office/drawing/2016/SVG/main" r:embed="R00a6a5f45b7c4271"/>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2034797362"/>
      </p:ext>
    </p:extLst>
  </p:cSld>
</p:sld>
</file>

<file path=ppt/slides/slide1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af5bc45da234469">
            <a:extLst>
              <a:ext uri="{96DAC541-7B7A-43D3-8B79-37D633B846F1}">
                <asvg:svgBlip xmlns:asvg="http://schemas.microsoft.com/office/drawing/2016/SVG/main" r:embed="R938665d66d1f4536"/>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779736367"/>
      </p:ext>
    </p:extLst>
  </p:cSld>
</p:sld>
</file>

<file path=ppt/slides/slide1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e27cfe499314557">
            <a:extLst>
              <a:ext uri="{96DAC541-7B7A-43D3-8B79-37D633B846F1}">
                <asvg:svgBlip xmlns:asvg="http://schemas.microsoft.com/office/drawing/2016/SVG/main" r:embed="R70df62d71ef4442a"/>
              </a:ext>
            </a:extLst>
          </a:blip>
          <a:stretch xmlns:a="http://schemas.openxmlformats.org/drawingml/2006/main"/>
        </p:blipFill>
        <p:spPr>
          <a:xfrm xmlns:a="http://schemas.openxmlformats.org/drawingml/2006/main" flipH="0" flipV="0">
            <a:off x="0" y="0"/>
            <a:ext cx="15240000" cy="8572500"/>
          </a:xfrm>
          <a:prstGeom xmlns:a="http://schemas.openxmlformats.org/drawingml/2006/main" prst="rect">
            <a:avLst/>
          </a:prstGeom>
        </p:spPr>
      </p:pic>
    </p:spTree>
    <p:extLst>
      <p:ext uri="{BB962C8B-B14F-4D97-AF65-F5344CB8AC3E}">
        <p14:creationId xmlns:p14="http://schemas.microsoft.com/office/powerpoint/2010/main" val="593877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2026-08-01T06:43:36.6280000Z</dcterms:created>
  <dcterms:modified xsi:type="dcterms:W3CDTF">2026-08-01T06:43:36.6280000Z</dcterms:modified>
</coreProperties>
</file>